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02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DFCF8"/>
                </a:solidFill>
              </a:defRPr>
            </a:pPr>
            <a:r>
              <a:t>Intelligent Pathfinding using A*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10647" y="4114800"/>
            <a:ext cx="4340227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BF5737"/>
                </a:solidFill>
              </a:defRPr>
            </a:pPr>
            <a:r>
              <a:rPr dirty="0"/>
              <a:t>Artificial Intelligence • College Project</a:t>
            </a:r>
            <a:br>
              <a:rPr dirty="0"/>
            </a:br>
            <a:r>
              <a:rPr dirty="0"/>
              <a:t>Presented by: </a:t>
            </a:r>
            <a:r>
              <a:rPr lang="en-US" dirty="0"/>
              <a:t>Shlok Sagar (25BAI10567)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F5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B3022"/>
                </a:solidFill>
              </a:defRPr>
            </a:pPr>
            <a:r>
              <a:t>Introduction to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058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1500"/>
              </a:spcAft>
              <a:defRPr sz="2400"/>
            </a:pPr>
            <a:r>
              <a:t>• AI simulates HUMAN INTELLIGENCE in machines.</a:t>
            </a:r>
          </a:p>
          <a:p>
            <a:pPr>
              <a:spcAft>
                <a:spcPts val="1500"/>
              </a:spcAft>
              <a:defRPr sz="2400"/>
            </a:pPr>
            <a:r>
              <a:t>• Key goal: Enable machines to LEARN, REASON, and PROBLEM-SOLVE.</a:t>
            </a:r>
          </a:p>
          <a:p>
            <a:pPr>
              <a:spcAft>
                <a:spcPts val="1500"/>
              </a:spcAft>
              <a:defRPr sz="2400"/>
            </a:pPr>
            <a:r>
              <a:t>• Pathfinding is a fundamental AI problem (finding the best route).</a:t>
            </a:r>
          </a:p>
          <a:p>
            <a:pPr>
              <a:spcAft>
                <a:spcPts val="1500"/>
              </a:spcAft>
              <a:defRPr sz="2400"/>
            </a:pPr>
            <a:r>
              <a:t>• Used in everyday tech from GPS to video games.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F5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B3022"/>
                </a:solidFill>
              </a:defRPr>
            </a:pPr>
            <a:r>
              <a:t>What are Search Algorithms?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058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1500"/>
              </a:spcAft>
              <a:defRPr sz="2400"/>
            </a:pPr>
            <a:r>
              <a:t>• A systematic way to SEARCH through a problem space.</a:t>
            </a:r>
          </a:p>
          <a:p>
            <a:pPr>
              <a:spcAft>
                <a:spcPts val="1500"/>
              </a:spcAft>
              <a:defRPr sz="2400"/>
            </a:pPr>
            <a:r>
              <a:t>• State Space: All possible positions or configurations.</a:t>
            </a:r>
          </a:p>
          <a:p>
            <a:pPr>
              <a:spcAft>
                <a:spcPts val="1500"/>
              </a:spcAft>
              <a:defRPr sz="2400"/>
            </a:pPr>
            <a:r>
              <a:t>• Goal: Find a sequence of actions from START state to GOAL state.</a:t>
            </a:r>
          </a:p>
          <a:p>
            <a:pPr>
              <a:spcAft>
                <a:spcPts val="1500"/>
              </a:spcAft>
              <a:defRPr sz="2400"/>
            </a:pPr>
            <a:r>
              <a:t>• Efficiency is measured by Time and Memory complexity.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F5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B3022"/>
                </a:solidFill>
              </a:defRPr>
            </a:pPr>
            <a:r>
              <a:t>Uninformed vs Informed 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b="1">
                <a:solidFill>
                  <a:srgbClr val="BF5737"/>
                </a:solidFill>
              </a:defRPr>
            </a:pPr>
            <a:r>
              <a:t>Uninformed (Blind Search)</a:t>
            </a:r>
          </a:p>
          <a:p>
            <a:pPr>
              <a:defRPr sz="2000"/>
            </a:pPr>
            <a:r>
              <a:t>• No knowledge of the goal location.</a:t>
            </a:r>
          </a:p>
          <a:p>
            <a:pPr>
              <a:defRPr sz="2000"/>
            </a:pPr>
            <a:r>
              <a:t>• Explores all directions equally.</a:t>
            </a:r>
          </a:p>
          <a:p>
            <a:pPr>
              <a:defRPr sz="2000"/>
            </a:pPr>
            <a:r>
              <a:t>• Examples: BFS, DFS.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029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b="1">
                <a:solidFill>
                  <a:srgbClr val="1B3022"/>
                </a:solidFill>
              </a:defRPr>
            </a:pPr>
            <a:r>
              <a:t>Informed (Heuristic Search)</a:t>
            </a:r>
          </a:p>
          <a:p>
            <a:pPr>
              <a:defRPr sz="2000"/>
            </a:pPr>
            <a:r>
              <a:t>• Uses 'Hints' to reach the goal.</a:t>
            </a:r>
          </a:p>
          <a:p>
            <a:pPr>
              <a:defRPr sz="2000"/>
            </a:pPr>
            <a:r>
              <a:t>• Focuses on the most promising path.</a:t>
            </a:r>
          </a:p>
          <a:p>
            <a:pPr>
              <a:defRPr sz="2000"/>
            </a:pPr>
            <a:r>
              <a:t>• Example: A* Algorithm.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F5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B3022"/>
                </a:solidFill>
              </a:defRPr>
            </a:pPr>
            <a:r>
              <a:t>Introduction to A* 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058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1500"/>
              </a:spcAft>
              <a:defRPr sz="2400"/>
            </a:pPr>
            <a:r>
              <a:t>• Pronounced as 'A-Star'.</a:t>
            </a:r>
          </a:p>
          <a:p>
            <a:pPr>
              <a:spcAft>
                <a:spcPts val="1500"/>
              </a:spcAft>
              <a:defRPr sz="2400"/>
            </a:pPr>
            <a:r>
              <a:t>• It is both OPTIMAL (finds shortest path) and COMPLETE (finds path if it exists).</a:t>
            </a:r>
          </a:p>
          <a:p>
            <a:pPr>
              <a:spcAft>
                <a:spcPts val="1500"/>
              </a:spcAft>
              <a:defRPr sz="2400"/>
            </a:pPr>
            <a:r>
              <a:t>• Combines features of Dijkstra’s and Greedy Best-First Search.</a:t>
            </a:r>
          </a:p>
          <a:p>
            <a:pPr>
              <a:spcAft>
                <a:spcPts val="1500"/>
              </a:spcAft>
              <a:defRPr sz="2400"/>
            </a:pPr>
            <a:r>
              <a:t>• Widely used because it is more EFFICIENT than blind search.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F5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B3022"/>
                </a:solidFill>
              </a:defRPr>
            </a:pPr>
            <a:r>
              <a:t>The A* Formula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1645920"/>
            <a:ext cx="6400800" cy="1371600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5000" b="1">
                <a:solidFill>
                  <a:srgbClr val="BF5737"/>
                </a:solidFill>
              </a:defRPr>
            </a:pPr>
            <a:r>
              <a:t>f(n) = g(n) + h(n)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400"/>
            </a:pPr>
            <a:r>
              <a:t>• g(n): Actual cost from START to current node n.</a:t>
            </a:r>
          </a:p>
          <a:p>
            <a:pPr>
              <a:defRPr sz="2400"/>
            </a:pPr>
            <a:r>
              <a:t>• h(n): HEURISTIC - Estimated cost from current node n to GOAL.</a:t>
            </a:r>
          </a:p>
          <a:p>
            <a:pPr>
              <a:defRPr sz="2400"/>
            </a:pPr>
            <a:r>
              <a:t>• f(n): TOTAL ESTIMATED COST of the path through node 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F5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B3022"/>
                </a:solidFill>
              </a:defRPr>
            </a:pPr>
            <a:r>
              <a:t>The Heuristic Function (h(n))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058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1500"/>
              </a:spcAft>
              <a:defRPr sz="2400"/>
            </a:pPr>
            <a:r>
              <a:t>• Manhattan Distance: Used for 4-directional grids (L-shaped movement).</a:t>
            </a:r>
          </a:p>
          <a:p>
            <a:pPr>
              <a:spcAft>
                <a:spcPts val="1500"/>
              </a:spcAft>
              <a:defRPr sz="2400"/>
            </a:pPr>
            <a:r>
              <a:t>• Formula: |x1 - x2| + |y1 - y2|</a:t>
            </a:r>
          </a:p>
          <a:p>
            <a:pPr>
              <a:spcAft>
                <a:spcPts val="1500"/>
              </a:spcAft>
              <a:defRPr sz="2400"/>
            </a:pPr>
            <a:r>
              <a:t>• Euclidean Distance: Used for any-angle movement (direct 'as the crow flies').</a:t>
            </a:r>
          </a:p>
          <a:p>
            <a:pPr>
              <a:spcAft>
                <a:spcPts val="1500"/>
              </a:spcAft>
              <a:defRPr sz="2400"/>
            </a:pPr>
            <a:r>
              <a:t>• A 'Good' heuristic never overestimates the cost (Admissible).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F5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B3022"/>
                </a:solidFill>
              </a:defRPr>
            </a:pPr>
            <a:r>
              <a:t>Step-by-Step 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943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1000"/>
              </a:spcAft>
              <a:defRPr sz="2000"/>
            </a:pPr>
            <a:r>
              <a:t>1. Maintain two lists: OPEN (nodes to visit) and CLOSED (visited).</a:t>
            </a:r>
          </a:p>
          <a:p>
            <a:pPr>
              <a:spcAft>
                <a:spcPts val="1000"/>
              </a:spcAft>
              <a:defRPr sz="2000"/>
            </a:pPr>
            <a:r>
              <a:t>2. Start by adding the START node to OPEN.</a:t>
            </a:r>
          </a:p>
          <a:p>
            <a:pPr>
              <a:spcAft>
                <a:spcPts val="1000"/>
              </a:spcAft>
              <a:defRPr sz="2000"/>
            </a:pPr>
            <a:r>
              <a:t>3. Pick node with LOWEST f(n) from OPEN.</a:t>
            </a:r>
          </a:p>
          <a:p>
            <a:pPr>
              <a:spcAft>
                <a:spcPts val="1000"/>
              </a:spcAft>
              <a:defRPr sz="2000"/>
            </a:pPr>
            <a:r>
              <a:t>4. Check its neighbors: calculate their g, h, f.</a:t>
            </a:r>
          </a:p>
          <a:p>
            <a:pPr>
              <a:spcAft>
                <a:spcPts val="1000"/>
              </a:spcAft>
              <a:defRPr sz="2000"/>
            </a:pPr>
            <a:r>
              <a:t>5. Update neighbor costs if a better path is found.</a:t>
            </a:r>
          </a:p>
          <a:p>
            <a:pPr>
              <a:spcAft>
                <a:spcPts val="1000"/>
              </a:spcAft>
              <a:defRPr sz="2000"/>
            </a:pPr>
            <a:r>
              <a:t>6. Repeat until GOAL is reached.</a:t>
            </a:r>
          </a:p>
        </p:txBody>
      </p:sp>
      <p:pic>
        <p:nvPicPr>
          <p:cNvPr id="6" name="Picture 5" descr="astar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8288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F5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B3022"/>
                </a:solidFill>
              </a:defRPr>
            </a:pPr>
            <a:r>
              <a:t>Implementation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058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1500"/>
              </a:spcAft>
              <a:defRPr sz="2400"/>
            </a:pPr>
            <a:r>
              <a:t>• Language: Python is preferred for its library support.</a:t>
            </a:r>
          </a:p>
          <a:p>
            <a:pPr>
              <a:spcAft>
                <a:spcPts val="1500"/>
              </a:spcAft>
              <a:defRPr sz="2400"/>
            </a:pPr>
            <a:r>
              <a:t>• Data Structures: Priority Queue (Heap) for managing the OPEN list.</a:t>
            </a:r>
          </a:p>
          <a:p>
            <a:pPr>
              <a:spcAft>
                <a:spcPts val="1500"/>
              </a:spcAft>
              <a:defRPr sz="2400"/>
            </a:pPr>
            <a:r>
              <a:t>• Grid Representation: 2D Array or Graph Nodes.</a:t>
            </a:r>
          </a:p>
          <a:p>
            <a:pPr>
              <a:spcAft>
                <a:spcPts val="1500"/>
              </a:spcAft>
              <a:defRPr sz="2400"/>
            </a:pPr>
            <a:r>
              <a:t>• Visualization: Pygame or Matplotlib to draw the search live.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F5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B3022"/>
                </a:solidFill>
              </a:defRPr>
            </a:pPr>
            <a:r>
              <a:t>Comparison: A* vs BFS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828800"/>
          <a:ext cx="8534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>
                        <a:defRPr sz="20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t>Breadth-First Search (BFS)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t>A* Algorithm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t>Intelligence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t>Blind search (Uninformed)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t>Heuristic-based (Informed)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t>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t>Slow (explores all paths)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t>Fast (directed towards goal)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F5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B3022"/>
                </a:solidFill>
              </a:defRPr>
            </a:pPr>
            <a:r>
              <a:t>Real-World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058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1500"/>
              </a:spcAft>
              <a:defRPr sz="2400"/>
            </a:pPr>
            <a:r>
              <a:t>• Video Games: NPCs moving around obstacles.</a:t>
            </a:r>
          </a:p>
          <a:p>
            <a:pPr>
              <a:spcAft>
                <a:spcPts val="1500"/>
              </a:spcAft>
              <a:defRPr sz="2400"/>
            </a:pPr>
            <a:r>
              <a:t>• Google Maps: Finding shortest traffic-aware routes.</a:t>
            </a:r>
          </a:p>
          <a:p>
            <a:pPr>
              <a:spcAft>
                <a:spcPts val="1500"/>
              </a:spcAft>
              <a:defRPr sz="2400"/>
            </a:pPr>
            <a:r>
              <a:t>• Robotics: Autonomous vacuum cleaners navigating rooms.</a:t>
            </a:r>
          </a:p>
          <a:p>
            <a:pPr>
              <a:spcAft>
                <a:spcPts val="1500"/>
              </a:spcAft>
              <a:defRPr sz="2400"/>
            </a:pPr>
            <a:r>
              <a:t>• Network Routing: Sending data packets via best nodes.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F5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B3022"/>
                </a:solidFill>
              </a:defRPr>
            </a:pPr>
            <a:r>
              <a:t>Conclusion &amp; 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058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1500"/>
              </a:spcAft>
              <a:defRPr sz="2400"/>
            </a:pPr>
            <a:r>
              <a:t>• A* is the 'Gold Standard' for pathfinding.</a:t>
            </a:r>
          </a:p>
          <a:p>
            <a:pPr>
              <a:spcAft>
                <a:spcPts val="1500"/>
              </a:spcAft>
              <a:defRPr sz="2400"/>
            </a:pPr>
            <a:r>
              <a:t>• It balances EFFICIENCY (speed) and ACCURACY (path length).</a:t>
            </a:r>
          </a:p>
          <a:p>
            <a:pPr>
              <a:spcAft>
                <a:spcPts val="1500"/>
              </a:spcAft>
              <a:defRPr sz="2400"/>
            </a:pPr>
            <a:r>
              <a:t>• Understanding h(n) is key to solving complex AI searches.</a:t>
            </a:r>
          </a:p>
          <a:p>
            <a:pPr>
              <a:spcAft>
                <a:spcPts val="1500"/>
              </a:spcAft>
              <a:defRPr sz="2400"/>
            </a:pPr>
            <a:r>
              <a:t>• Project demonstrated how mathematical logic can guide machine movement.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611</Words>
  <Application>Microsoft Office PowerPoint</Application>
  <PresentationFormat>Widescreen</PresentationFormat>
  <Paragraphs>78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shlok sagar</cp:lastModifiedBy>
  <cp:revision>2</cp:revision>
  <dcterms:created xsi:type="dcterms:W3CDTF">2013-01-27T09:14:16Z</dcterms:created>
  <dcterms:modified xsi:type="dcterms:W3CDTF">2026-03-28T16:23:08Z</dcterms:modified>
  <cp:category/>
</cp:coreProperties>
</file>